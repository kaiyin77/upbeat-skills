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0467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2300" b="1">
                <a:solidFill>
                  <a:srgbClr val="E6EDF3"/>
                </a:solidFill>
              </a:rPr>
              <a:t>Trina-Pi  UP201/301  ×  AI Agent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8B949E"/>
                </a:solidFill>
              </a:rPr>
              <a:t>Edge Audio Intelligence  ·  Bone Microphone  ·  UART  ·  Custom Skills  ·  Claude Code  ·  Gemini CLI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932688"/>
            <a:ext cx="2331720" cy="5486400"/>
          </a:xfrm>
          <a:prstGeom prst="roundRect">
            <a:avLst/>
          </a:prstGeom>
          <a:solidFill>
            <a:srgbClr val="221206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74320" y="1069848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A657"/>
                </a:solidFill>
              </a:rPr>
              <a:t>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08176"/>
            <a:ext cx="2057400" cy="18288"/>
          </a:xfrm>
          <a:prstGeom prst="roundRect">
            <a:avLst/>
          </a:prstGeom>
          <a:solidFill>
            <a:srgbClr val="3A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500" b="1">
                <a:solidFill>
                  <a:srgbClr val="FFA657"/>
                </a:solidFill>
              </a:rP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38528"/>
            <a:ext cx="2148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900" b="0">
                <a:solidFill>
                  <a:srgbClr val="C9D1D9"/>
                </a:solidFill>
              </a:rPr>
              <a:t>Anthropic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761488"/>
            <a:ext cx="2057400" cy="18288"/>
          </a:xfrm>
          <a:prstGeom prst="roundRect">
            <a:avLst/>
          </a:prstGeom>
          <a:solidFill>
            <a:srgbClr val="3A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74320" y="2926080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500" b="1">
                <a:solidFill>
                  <a:srgbClr val="FFA657"/>
                </a:solidFill>
              </a:rPr>
              <a:t>Gemini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91840"/>
            <a:ext cx="2148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900" b="0">
                <a:solidFill>
                  <a:srgbClr val="C9D1D9"/>
                </a:solidFill>
              </a:rPr>
              <a:t>Google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4133087"/>
            <a:ext cx="2057400" cy="18288"/>
          </a:xfrm>
          <a:prstGeom prst="roundRect">
            <a:avLst/>
          </a:prstGeom>
          <a:solidFill>
            <a:srgbClr val="3A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74320" y="4270248"/>
            <a:ext cx="2148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>
                <a:solidFill>
                  <a:srgbClr val="8B949E"/>
                </a:solidFill>
              </a:rPr>
              <a:t>reads device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544568"/>
            <a:ext cx="2148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>
                <a:solidFill>
                  <a:srgbClr val="8B949E"/>
                </a:solidFill>
              </a:rPr>
              <a:t>sends commands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818888"/>
            <a:ext cx="2148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>
                <a:solidFill>
                  <a:srgbClr val="8B949E"/>
                </a:solidFill>
              </a:rPr>
              <a:t>processes audio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474719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A657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17296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750" b="0">
                <a:solidFill>
                  <a:srgbClr val="C9D1D9"/>
                </a:solidFill>
              </a:rPr>
              <a:t>invoke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877055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750" b="0">
                <a:solidFill>
                  <a:srgbClr val="8B949E"/>
                </a:solidFill>
              </a:rPr>
              <a:t>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932688"/>
            <a:ext cx="2103120" cy="5486400"/>
          </a:xfrm>
          <a:prstGeom prst="roundRect">
            <a:avLst/>
          </a:prstGeom>
          <a:solidFill>
            <a:srgbClr val="0A2216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108960" y="1069848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3FB950"/>
                </a:solidFill>
              </a:rPr>
              <a:t>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79" y="1408176"/>
            <a:ext cx="1828799" cy="18288"/>
          </a:xfrm>
          <a:prstGeom prst="roundRect">
            <a:avLst/>
          </a:prstGeom>
          <a:solidFill>
            <a:srgbClr val="12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108960" y="155448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3FB950"/>
                </a:solidFill>
              </a:rPr>
              <a:t>.md  spec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182880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>
                <a:solidFill>
                  <a:srgbClr val="C9D1D9"/>
                </a:solidFill>
              </a:rPr>
              <a:t>Markdown 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2084832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>
                <a:solidFill>
                  <a:srgbClr val="8B949E"/>
                </a:solidFill>
              </a:rPr>
              <a:t>for the AI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4679" y="2487168"/>
            <a:ext cx="1828799" cy="18288"/>
          </a:xfrm>
          <a:prstGeom prst="roundRect">
            <a:avLst/>
          </a:prstGeom>
          <a:solidFill>
            <a:srgbClr val="12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108960" y="2624328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3FB950"/>
                </a:solidFill>
              </a:rPr>
              <a:t>.py  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2898648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>
                <a:solidFill>
                  <a:srgbClr val="C9D1D9"/>
                </a:solidFill>
              </a:rPr>
              <a:t>Python 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15468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>
                <a:solidFill>
                  <a:srgbClr val="8B949E"/>
                </a:solidFill>
              </a:rPr>
              <a:t>runs with  uv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79" y="3566160"/>
            <a:ext cx="1828799" cy="18288"/>
          </a:xfrm>
          <a:prstGeom prst="roundRect">
            <a:avLst/>
          </a:prstGeom>
          <a:solidFill>
            <a:srgbClr val="12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108960" y="3721608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600" b="1">
                <a:solidFill>
                  <a:srgbClr val="3FB950"/>
                </a:solidFill>
              </a:rPr>
              <a:t>/mcu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023360"/>
            <a:ext cx="19202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00" b="0">
                <a:solidFill>
                  <a:srgbClr val="C9D1D9"/>
                </a:solidFill>
              </a:rPr>
              <a:t>MCU Shell Interface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79" y="4361688"/>
            <a:ext cx="1828799" cy="18288"/>
          </a:xfrm>
          <a:prstGeom prst="roundRect">
            <a:avLst/>
          </a:prstGeom>
          <a:solidFill>
            <a:srgbClr val="12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108960" y="4517136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600" b="1">
                <a:solidFill>
                  <a:srgbClr val="3FB950"/>
                </a:solidFill>
              </a:rPr>
              <a:t>/pet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818888"/>
            <a:ext cx="19202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00" b="0">
                <a:solidFill>
                  <a:srgbClr val="C9D1D9"/>
                </a:solidFill>
              </a:rPr>
              <a:t>OpenClaw Pet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474719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3FB950"/>
                </a:solidFill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17296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750" b="0">
                <a:solidFill>
                  <a:srgbClr val="C9D1D9"/>
                </a:solidFill>
              </a:rPr>
              <a:t>open 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877055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750" b="0">
                <a:solidFill>
                  <a:srgbClr val="8B949E"/>
                </a:solidFill>
              </a:rPr>
              <a:t>read / write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23560" y="932688"/>
            <a:ext cx="1737360" cy="5486400"/>
          </a:xfrm>
          <a:prstGeom prst="roundRect">
            <a:avLst/>
          </a:prstGeom>
          <a:solidFill>
            <a:srgbClr val="221A04"/>
          </a:solidFill>
          <a:ln w="25400">
            <a:solidFill>
              <a:srgbClr val="FFC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696712" y="106984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C73B"/>
                </a:solidFill>
              </a:rPr>
              <a:t>COM 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33288" y="1408176"/>
            <a:ext cx="1517904" cy="18288"/>
          </a:xfrm>
          <a:prstGeom prst="roundRect">
            <a:avLst/>
          </a:prstGeom>
          <a:solidFill>
            <a:srgbClr val="38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96712" y="1554480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800" b="1">
                <a:solidFill>
                  <a:srgbClr val="FFC73B"/>
                </a:solidFill>
              </a:rPr>
              <a:t>UART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33288" y="2011680"/>
            <a:ext cx="1517904" cy="18288"/>
          </a:xfrm>
          <a:prstGeom prst="roundRect">
            <a:avLst/>
          </a:prstGeom>
          <a:solidFill>
            <a:srgbClr val="38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696712" y="2139696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900" b="1">
                <a:solidFill>
                  <a:srgbClr val="E6EDF3"/>
                </a:solidFill>
              </a:rPr>
              <a:t>text commands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96712" y="2395728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C73B"/>
                </a:solidFill>
              </a:rPr>
              <a:t>↑  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33288" y="2807208"/>
            <a:ext cx="1517904" cy="18288"/>
          </a:xfrm>
          <a:prstGeom prst="roundRect">
            <a:avLst/>
          </a:prstGeom>
          <a:solidFill>
            <a:srgbClr val="38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96712" y="294436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900" b="1">
                <a:solidFill>
                  <a:srgbClr val="E6EDF3"/>
                </a:solidFill>
              </a:rPr>
              <a:t>PCM audio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96712" y="3200400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C73B"/>
                </a:solidFill>
              </a:rPr>
              <a:t>↑  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33288" y="3611880"/>
            <a:ext cx="1517904" cy="18288"/>
          </a:xfrm>
          <a:prstGeom prst="roundRect">
            <a:avLst/>
          </a:prstGeom>
          <a:solidFill>
            <a:srgbClr val="38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696712" y="3749039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>
                <a:solidFill>
                  <a:srgbClr val="C9D1D9"/>
                </a:solidFill>
              </a:rPr>
              <a:t>binary blocks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96712" y="4005072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>
                <a:solidFill>
                  <a:srgbClr val="8B949E"/>
                </a:solidFill>
              </a:rPr>
              <a:t>10 ms per frame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3474719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C73B"/>
                </a:solidFill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317296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750" b="0">
                <a:solidFill>
                  <a:srgbClr val="C9D1D9"/>
                </a:solidFill>
              </a:rPr>
              <a:t>cmd / 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3877055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750" b="0">
                <a:solidFill>
                  <a:srgbClr val="8B949E"/>
                </a:solidFill>
              </a:rPr>
              <a:t>response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63840" y="932688"/>
            <a:ext cx="1554480" cy="5486400"/>
          </a:xfrm>
          <a:prstGeom prst="roundRect">
            <a:avLst/>
          </a:prstGeom>
          <a:solidFill>
            <a:srgbClr val="081A3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936992" y="106984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58A6FF"/>
                </a:solidFill>
              </a:rPr>
              <a:t>TRINA-PI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73567" y="1408176"/>
            <a:ext cx="1335024" cy="18288"/>
          </a:xfrm>
          <a:prstGeom prst="roundRect">
            <a:avLst/>
          </a:prstGeom>
          <a:solidFill>
            <a:srgbClr val="12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936992" y="1554480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700" b="1">
                <a:solidFill>
                  <a:srgbClr val="58A6FF"/>
                </a:solidFill>
              </a:rPr>
              <a:t>UP201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189280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C9D1D9"/>
                </a:solidFill>
              </a:rPr>
              <a:t>UP301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73567" y="2286000"/>
            <a:ext cx="1335024" cy="18288"/>
          </a:xfrm>
          <a:prstGeom prst="roundRect">
            <a:avLst/>
          </a:prstGeom>
          <a:solidFill>
            <a:srgbClr val="12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936992" y="2414016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58A6FF"/>
                </a:solidFill>
              </a:rPr>
              <a:t>RISC-V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36992" y="2670048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900" b="0">
                <a:solidFill>
                  <a:srgbClr val="C9D1D9"/>
                </a:solidFill>
              </a:rPr>
              <a:t>MCU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973567" y="3054096"/>
            <a:ext cx="1335024" cy="18288"/>
          </a:xfrm>
          <a:prstGeom prst="roundRect">
            <a:avLst/>
          </a:prstGeom>
          <a:solidFill>
            <a:srgbClr val="12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936992" y="3200400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E6EDF3"/>
                </a:solidFill>
              </a:rPr>
              <a:t>Bone Mic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36992" y="3456432"/>
            <a:ext cx="14081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>
                <a:solidFill>
                  <a:srgbClr val="C9D1D9"/>
                </a:solidFill>
              </a:rPr>
              <a:t>PDM · 16 kHz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18320" y="3474719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18320" y="317296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750" b="0">
                <a:solidFill>
                  <a:srgbClr val="C9D1D9"/>
                </a:solidFill>
              </a:rPr>
              <a:t>shell API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3877055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750" b="0">
                <a:solidFill>
                  <a:srgbClr val="8B949E"/>
                </a:solidFill>
              </a:rPr>
              <a:t>audio out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921240" y="932688"/>
            <a:ext cx="2084831" cy="5486400"/>
          </a:xfrm>
          <a:prstGeom prst="roundRect">
            <a:avLst/>
          </a:prstGeom>
          <a:solidFill>
            <a:srgbClr val="18102C"/>
          </a:solidFill>
          <a:ln w="254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0012680" y="1069848"/>
            <a:ext cx="1901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BC8CFF"/>
                </a:solidFill>
              </a:rPr>
              <a:t>FIRMWARE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058400" y="1408176"/>
            <a:ext cx="1810511" cy="18288"/>
          </a:xfrm>
          <a:prstGeom prst="roundRect">
            <a:avLst/>
          </a:prstGeom>
          <a:solidFill>
            <a:srgbClr val="2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0012680" y="1554480"/>
            <a:ext cx="190195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C9D1D9"/>
                </a:solidFill>
              </a:rPr>
              <a:t>on-device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12680" y="1865376"/>
            <a:ext cx="1901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900" b="0">
                <a:solidFill>
                  <a:srgbClr val="8B949E"/>
                </a:solidFill>
              </a:rPr>
              <a:t>audio pipeline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12680" y="2121408"/>
            <a:ext cx="1901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900" b="0">
                <a:solidFill>
                  <a:srgbClr val="8B949E"/>
                </a:solidFill>
              </a:rPr>
              <a:t>DMA capture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12680" y="2377440"/>
            <a:ext cx="1901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900" b="0">
                <a:solidFill>
                  <a:srgbClr val="8B949E"/>
                </a:solidFill>
              </a:rPr>
              <a:t>PCM streaming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058400" y="2807208"/>
            <a:ext cx="1810511" cy="18288"/>
          </a:xfrm>
          <a:prstGeom prst="roundRect">
            <a:avLst/>
          </a:prstGeom>
          <a:solidFill>
            <a:srgbClr val="2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0012680" y="2944368"/>
            <a:ext cx="190195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600" b="1">
                <a:solidFill>
                  <a:srgbClr val="BC8CFF"/>
                </a:solidFill>
              </a:rPr>
              <a:t>Shell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3310128"/>
            <a:ext cx="1901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>
                <a:solidFill>
                  <a:srgbClr val="C9D1D9"/>
                </a:solidFill>
              </a:rPr>
              <a:t>simple command REPL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058400" y="3675887"/>
            <a:ext cx="1810511" cy="18288"/>
          </a:xfrm>
          <a:prstGeom prst="roundRect">
            <a:avLst/>
          </a:prstGeom>
          <a:solidFill>
            <a:srgbClr val="2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10085832" y="3840480"/>
            <a:ext cx="804672" cy="292608"/>
          </a:xfrm>
          <a:prstGeom prst="roundRect">
            <a:avLst/>
          </a:prstGeom>
          <a:solidFill>
            <a:srgbClr val="18102C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BC8CFF"/>
                </a:solidFill>
              </a:rPr>
              <a:t>pet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073384" y="3840480"/>
            <a:ext cx="804672" cy="292608"/>
          </a:xfrm>
          <a:prstGeom prst="roundRect">
            <a:avLst/>
          </a:prstGeom>
          <a:solidFill>
            <a:srgbClr val="18102C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FB950"/>
                </a:solidFill>
              </a:rPr>
              <a:t>stream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085832" y="4261104"/>
            <a:ext cx="804672" cy="292608"/>
          </a:xfrm>
          <a:prstGeom prst="roundRect">
            <a:avLst/>
          </a:prstGeom>
          <a:solidFill>
            <a:srgbClr val="18102C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FB950"/>
                </a:solidFill>
              </a:rPr>
              <a:t>record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073384" y="4261104"/>
            <a:ext cx="804672" cy="292608"/>
          </a:xfrm>
          <a:prstGeom prst="roundRect">
            <a:avLst/>
          </a:prstGeom>
          <a:solidFill>
            <a:srgbClr val="18102C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58A6FF"/>
                </a:solidFill>
              </a:rPr>
              <a:t>pdm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085832" y="4681728"/>
            <a:ext cx="804672" cy="292608"/>
          </a:xfrm>
          <a:prstGeom prst="roundRect">
            <a:avLst/>
          </a:prstGeom>
          <a:solidFill>
            <a:srgbClr val="18102C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58A6FF"/>
                </a:solidFill>
              </a:rPr>
              <a:t>info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073384" y="4681728"/>
            <a:ext cx="804672" cy="292608"/>
          </a:xfrm>
          <a:prstGeom prst="roundRect">
            <a:avLst/>
          </a:prstGeom>
          <a:solidFill>
            <a:srgbClr val="18102C"/>
          </a:solidFill>
          <a:ln w="12700">
            <a:solidFill>
              <a:srgbClr val="FFC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C73B"/>
                </a:solidFill>
              </a:rPr>
              <a:t>reset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0" y="6565392"/>
            <a:ext cx="12188952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00" b="0">
                <a:solidFill>
                  <a:srgbClr val="8B949E"/>
                </a:solidFill>
              </a:rPr>
              <a:t>github.com/KaiYin77/upbeat-skills  ·  curl -fsSL …/install.sh | bash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